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Início da Unidade II. Mensagem central no subtítulo: PBR não é um estilo visual, é um modelo matemático de como a luz se comporta. O UV das Semanas 3-4 vira o endereço onde os mapas PBR vão morar. Hoje é também a segunda crítica formal do semestre (fecha C3 - UV, estreia C4 - PBR). Não é tutorial de cliques: é construir o raciocínio "o material é condutor ou dielétrico? qual sua microtextura?".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Cada objetivo retorna ao longo da aula. Não antecipar texturas seamless (Semana 6) nem Normal Map (Semana 7). O foco é o valor plano: propriedade física da superfície, ainda sem imagem no canal.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Abrir com esta pergunta. Aguardar 2-3 respostas (vão citar: pintar highlight na textura, mapa especular, ajustar no motor). Confirmar que todas estavam certas — e então mostrar o problema no próximo slide: highlight embutido só funciona com a luz no ângulo certo.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Revelar após as respostas da turma. Fixar: antes de ~2013, o artista embutia luz, sombra e reflexo na textura difusa. Funcionava com câmera e iluminação fixas. Em qualquer outro ângulo, o material quebrava. Isso motiva a virada do PBR.
[!FIGURA]
Objetivo didático: mostrar visualmente por que o highlight pintado falha, motivando a necessidade do PBR.
Arquivo sugerido: assets/highlight_embutido_vs_pbr.webp
Descrição: mesma esfera em duas condições. À esquerda, esfera com highlight pintado na textura difusa, iluminada por um lado — parece correta. À direita, a MESMA esfera com a luz vinda do lado oposto — o brilho pintado aparece no lado errado, revelando o erro.
Como produzir: no Blender, criar uma esfera com um material Emission/difuso contendo um highlight pintado no Albedo (feito no Krita). Renderizar com uma luz à direita e depois à esquerda, sem mudar a textura. Compor as duas capturas lado a lado no Krita com rótulos "luz certa / luz errada".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Este é o conceito-âncora da semana. Reforçar: o artista descreve propriedades físicas; o cálculo da aparência é do motor. É por isso que o mesmo material funciona numa masmorra escura e num deserto ensolarado sem retrabalho. Amarrar ao Projeto Integrador: o kit precisa ser coerente em qualquer cena.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Não aprofundar Specular/Glossiness — citar apenas para situar. O importante é a decisão: adotamos Metallic/Roughness porque é o padrão dos motores modernos e o destino do pipeline é a Unity (Semana 16). Menos sujeito a erros físicos.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Slide de mapa mental. Cada canal é detalhado nos próximos três slides. Escrever no quadro e manter durante toda a aula: "Roughness 0 = espelho | Roughness 1 = fosco". Antecipar que Metallic é binário e Roughness é contínuo.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Analogia fotográfica útil (do plano): "Albedo é o material fotografado num dia nublado — iluminação difusa, sem sombra nem reflexo." Erro comum nº 3 da semana: Albedo extremo. Pedra real não reflete 95% da luz. Usar a referência do moodboard para ancorar o valor.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Erro nº 1 da semana. O estudante acha que "deixar no meio" é seguro. Valores intermediários só se justificam em regiões de TRANSIÇÃO (ferrugem sobre metal, metal pintado). Estratégia de correção: mostrar ao vivo Metallic 0, 0.5 e 1 com o mesmo Roughness e perguntar "você já viu esse material na vida real?".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Ao contrário do Metallic, Roughness é genuinamente contínuo. Cuidado com o erro nº 1 de intuição invertida: quem viu tutoriais antigos pode achar "mais roughness = mais brilho". No Metallic/Roughness é o oposto. Manter no quadro: Roughness 0 = espelho | Roughness 1 = fosco.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Este diagrama é o núcleo procedimental da semana. Repetir verbalmente no estúdio: "condutor ou dielétrico? qual a microtextura?". O GitHub Action converte o bloco mermaid em imagem automaticamente. Cada material do kit deve passar por essas duas perguntas antes de qualquer valor ser digitado.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Mostrar as 5 referências visuais preparadas e pedir que a turma ESTIME antes de revelar. O exercício de estimativa é mais importante que os valores finais — constrói intuição da escala 0-1. Deixar claro que os valores variam por subtipo (pedra polida vs. bruta) para evitar memorização mecânica.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Consigna do estúdio (50 min). Reforçar a ligação com o Projeto Integrador e o moodboard: não é "pedra genérica", é AQUELA pedra do kit Medieval/Sci-Fi específico. Nomear os materiais com o material real (ex: pedra_calcaria, aco_enferrujado). Usar esferas (respondem melhor ao reflexo especular) e HDRI neutra no Viewport Rendered.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 da semana, alinhados ao bloco de dificuldades do plano. Circular no estúdio caçando exatamente estes padrões. Para Roughness uniforme, usar a analogia do tato: "de olhos fechados, você distingue madeira de pedra pelo tato — o Roughness é o tato visual".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aula. Cada item retorna na demonstração e no estúdio. Não reler tudo — apontar a conexão com a demo dos 4 materiais no Principled BSDF. Lembrar que a crítica de hoje é FORMAL: fecha C3 (UV) e estreia C4 (PBR).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Preparar a turma para o segundo encontro. Autoavaliação entregue ANTES da aula. Protocolo: o apresentador fala primeiro, a turma observa, depois abre. Selecionar 3-4 trabalhos que cubram o espectro. Vocabulário técnico esperado: condutor/dielétrico, microgranularidade.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Layout dividido: Viewport Rendered com HDRI neutra à esquerda, Shader Editor à direita. Sequência: metal (Metallic 1, Rough 0.05) -&gt; plástico (Metallic 0) -&gt; pedra (Rough 0.85) -&gt; madeira. Mostrar Metallic 0/0.5/1 no plástico. Rotacionar a HDRI no fim para provar a consistência. Manter o arquivo aberto durante o estúdio como âncora.
[!FIGURA]
Objetivo didático: dar à turma um alvo visual do resultado esperado e antecipar o layout de tela da demonstração.
Arquivo sugerido: assets/demo_4_materiais_pbr.webp
Descrição: captura do Blender com quatro esferas lado a lado em Viewport Rendered sob HDRI neutra — metal polido (reflexo nítido), plástico vermelho brilhante, pedra bege fosca e madeira marrom. Ao lado, o Shader Editor mostrando um Principled BSDF conectado ao Material Output.
Como produzir: no Blender, montar layout dividido (Viewport Rendered + Shader Editor), criar 4 esferas com os materiais da tabela de referência, adicionar HDRI neutra (ex: studio_small_09 do Poly Haven) no World e capturar a tela com os 4 materiais visíveis.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 material não é pintado</dc:title>
  <dc:subject>PptxGenJS Presentation</dc:subject>
  <dc:creator>Created by Marp</dc:creator>
  <cp:lastModifiedBy>Created by Marp</cp:lastModifiedBy>
  <cp:revision>1</cp:revision>
  <dcterms:created xsi:type="dcterms:W3CDTF">2026-07-12T01:46:18Z</dcterms:created>
  <dcterms:modified xsi:type="dcterms:W3CDTF">2026-07-12T01:46:18Z</dcterms:modified>
</cp:coreProperties>
</file>