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Abrir sem pressa. Esta é a primeira aula do semestre — não há conteúdo anterior a retomar. A função da mini aula é situar o estudante no vocabulário, no pipeline e no projeto, antes de qualquer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Esta é a promessa do semestre. Não é uma sequência de exercícios soltos — tudo alimenta um único entregável, apresentado na Semana 16. "Caminhável" significa apenas locomoção: não vamos programar gameplay. O valor está no ambiente.
[!FIGURA]
Objetivo didático — Tornar concreto o entregável final logo no primeiro dia, para que o estudante entenda a meta antes de qualquer conteúdo técnico.
Arquivo sugerido — assets/fase_caminhavel_exemplo.webp
Descrição — Captura de uma cena caminhável simples na Unity, em perspectiva de primeira pessoa, montada com peças modulares repetidas (chão, parede, pilar, detalhe); um pequeno inset no canto mostra a mesma cena em vista de topo, revelando a modularidade.
Como produzir — Montar no Blender 4–5 peças modulares simples de um tema qualquer, exportar em FBX e montar uma sala na Unity com o First Person Controller padrão. Capturar a tela em Game View e, em vista de topo, na Scene View. Compor as duas capturas em uma única imagem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Deixar muito claro que o projeto é único e compartilhado. O concept art define a direção, a modelagem entrega a geometria, a texturização entrega a superfície. Nenhuma disciplina fecha o projeto sozinha — e o recorte temático nasce do diálogo entre as três, não é escolhido isoladamente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rápido, sem detalhar. Os quatro primeiros objetivos são cobertos na mini aula e na demonstração; o último é o trabalho do estúdio de hoje. Avisar que haverá uma checagem rápida no fechamento do segundo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Deixar 2–3 respostas rápidas da turma antes de apresentar o conceito. Não corrigir — usar as respostas como ponte. A intuição costuma ser: cor é "o que se vê", material é "do que é feito". Aproveitar para introduzir o vocabulário do Cap. 1 da apostila.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Enfatizar que textura é dado visual "colado" na superfície. Ainda não falar em tipos de mapa nem em UV — isso vem na Semana 2. Manter no nível conceitual. Referência: apostila, Parte I, Cap.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Material é o "recipiente"; textura é o "conteúdo". Essa relação hierárquica volta com força quando chegarmos ao PBR. Não abrir o Principled BSDF em detalhe agora — apenas nomear na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Duas abordagens complementares, não rivais. Nesta disciplina o foco é raster/PBR pintado no 3DCoatTextura, mas o estudante precisa reconhecer o vocabulário. O conceito volta com aplicação prática na Semana 7 (Normal Map procedural) — dizer isso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Mostrar o contraste visual e seguir. Não abrir nós procedurais agora. Basta que o estudante veja: uma pixeliza ao ampliar, a outra não.
[!FIGURA]
Objetivo didático — Tornar concreta a diferença entre bitmap e algoritmo, que é abstrata quando explicada só por palavras.
Arquivo sugerido — assets/raster_vs_procedural.webp (já existe como .png em assets/)
Descrição — Duas metades lado a lado da mesma superfície ampliada: à esquerda uma textura raster mostrando os pixels; à direita uma textura procedural (ruído ou xadrez) permanecendo nítida na mesma ampliação.
Como produzir — No Blender, criar um plano com uma imagem raster de baixa resolução ampliada e outro com um nó procedural (Noise/Checker). Renderizar um close comparativo. Montar a divisão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Nomear as etapas, sem detalhar UV nem PBR. O importante é o senso de trajetória: o estudante precisa saber que existe um caminho e onde cada semana se encaixa nele. Referência: apostila, Parte VI, Cap.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Nenhum software substitui o outro nesse fluxo. Se surgirem perguntas técnicas avançadas sobre PBR ou UV, responder: "Vamos chegar nisso na semana X." Não antecipar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Não é "fazer um jogo sobre MS". É usar o repertório cultural real como matéria-prima de fantasia. O recorte não fecha hoje — ele amadurece até a Semana 3, quando definimos o Hero Asset Referência. Hoje, começamos a gerar matéria-prima.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Vitrine, não aula sobre cada item — o aprofundamento é trabalho dos grupos no estúdio. Fonte: Relação de Bens Materiais e Imateriais do Estado de Mato Grosso do Sul (Fundação de Cultura de MS). Mencionar que vários desses bens são patrimônio da humanidade pela UNESCO — isso dá peso à pesquisa.
São 5 props, não 8, por dois motivos que valem dizer em voz alta: (1) o número de props define o TAMANHO dos grupos mistos do Encontro 2 — 5 props = grupos de 5, que é o limite para uma dinâmica de 15 min funcionar; (2) os 5 escolhidos cobrem 5 famílias de material distintas (barro, madeira, chifre/metal/fibra, aço oxidado/tijolo, pedra/cal), que é exatamente o repertório de superfície que vamos texturizar no semestre.
Chamamé e Capoeira ficaram de fora por serem bens performáticos — riquíssimos culturalmente, mas pobres em superfície para esta disciplina. Se algum estudante insistir em um deles, aceitar como prop extra do grupo dele, não como grupo próprio.
[!FIGURA]
Objetivo didático — Apresentar visualmente os props culturais disponíveis para que a divisão em grupos seja rápida e informada, e não uma escolha às cegas por nome.
Arquivo sugerido — assets/props_ms_vitrine.webp
Descrição — Grade de 5 células, uma por prop, cada célula com uma fotografia de referência em close (privilegiando a superfície e o material, não a vista geral do objeto) e o nome do bem cultural embaixo, em tipografia limpa e uniforme.
Como produzir — Reunir 5 fotografias de referência com bom detalhe de superfície (fontes oficiais: Fundação de Cultura de MS, IPHAN, acervos públicos) e montar a grade no Krita com molduras e rótulos padronizados. Registrar os créditos das imagens em um slide de apêndice ou no rodapé do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São os dois riscos centrais do estúdio de hoje. Antecipar aqui poupa correção depois. Deixar claro que a estrutura da atividade (pesquisa aprofundada → reagrupamento → ideação forçada) existe justamente para evitar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Esta é a pergunta de checagem que vou repetir circulando entre os grupos nos dois encontros. Vale escrever no quadro. É o critério prático de "não genérico": a ideia precisa depender da pesquisa cultural feita.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 da etapa de pesquisa, que costuma ser vista como "enrolação" antes do software. Amarrar a C1 (Processo de Projeto) e C2 (Direção Artística) da Rubrica Mestre — critérios já ativos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 mini aula amarrando os conceitos. Não reler tudo — apontar que cada item volta aplicado ao projeto. Os quatro primeiros itens serão checados rapidamente no fechamento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demonstração. Deixar claro que o tour do Blender é orientação espacial, não tutorial — o estudante só precisa reconhecer esses espaços quando voltar ao software. O mapeamento UV é ensinado na Semana 2.
[!FIGURA]
Objetivo didático — Orientar visualmente onde ficam os três espaços do Blender mostrados na demonstração, para que o estudante consiga reencontrá-los sozinho.
Arquivo sugerido — assets/blender_workspaces_tour.webp (já existe como .png em assets/)
Descrição — Captura da interface do Blender com três áreas destacadas e rotuladas: Shading Workspace (node editor), UV Editor e o seletor de Viewport Shading (Solid / Material Preview / Rendered).
Como produzir — Abrir o Blender com um modelo simples já mapeado, capturar a interface e adicionar rótulos e setas nas três áreas usando 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Divisória entre a mini aula e o estúdio. Os slides a seguir ficam projetados durante a produção — são referência de consigna e de tempo para a turma, não material de exposição. Não ler em voz alta: apresentar cada um no momento em que a etapa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Timebox real da etapa: 5 min de vitrine dos props + 5 min de divisão dos grupos + 35 min de pesquisa. Evitar que todos os grupos queiram o prop "mais famoso" — sorteio ou distribuição resolve.
São exatamente 5 grupos, independente do tamanho da turma: com 25 estudantes dá 5 por grupo; com 30, dá 6. Grupo especialista grande funciona (é pesquisa, dá para dividir subtemas); o que NÃO pode crescer é o grupo misto do Encontro 2 — e ele tem sempre 1 integrante por prop, ou seja, 5 pessoas. Turma pequena (menos de 15): usar 4 props, cortando as igrejas históricas.
Se a turma for muito grande (mais de 30), fazer 10 grupos especialistas — dois por prop, trabalhando em paralelo sem se falar. O jigsaw depois roda em dois blocos independentes, e comparar as duas leituras do mesmo prop na crítica é ganho pedagógico, não redundância.
Circular perguntando, sem entregar resposta pronta: "Que material vocês imaginam predominando aqui — pedra, madeira, barro, metal, fibra?" / "O que torna esse prop reconhecível à primeira vista?" / "Tem alguma história ou disputa por trás disso?"
Checagem antes de liberar a etapa: o grupo consegue responder a 3 perguntas concretas (material, origem, uso)? Se não, a pesquisa está rasa e o jigsaw do Encontro 2 não vai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5 minutos. O diagrama mostra UM grupo misto para não poluir — na prática formam-se tantos grupos mistos quantos forem os integrantes de cada grupo especialista (5 grupos de 5 → 5 grupos mistos de 5). Dizer isso em voz alta enquanto projeta.
Preparar previamente uma tabela de distribuição com nomes, ajustando na hora conforme presença. Grupos podem ter 2 integrantes do mesmo prop se o número não fechar — não é ideal, mas não invalida a dinâmica.
Explicar o porquê em uma frase: sozinho com o próprio prop, a tendência é a tradução literal. Cruzar props diferentes é o que gera ideias que ninguém acharia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 tabela do slide é um modelo reduzido — mostra 3 linhas para caber na projeção, mas o grupo tem 5 props e deve montar as 5 linhas no próprio painel.
A célula preenchida é o exemplo a dar em voz alta — Viola de Cocho × Fenômeno natural mágico → um instrumento que, ao ser tocado, "afina" o clima de uma região. Mostrar que a combinação forçada produz algo que nenhuma das duas colunas produziria sozinha.
Pedir que anotem os atributos de cada prop ao lado da linha (material, forma, cor, função, simbologia) — é deles que saem as combinações boas.
Se o grupo travar: aplicar a técnica a 1 prop só, e ampliar depois se sobrar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É a técnica mais lenta de explicar das três. Em turmas mais lentas, esta é a que pode virar lição de casa leve — mantenha matriz morfológica e conexões forçadas, que são mais visuais e rápidas.
Não é preciso preencher as 7 letras com qualidade: 2 ou 3 respostas fortes valem mais que 7 rasas.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 exigência das 2–3 frases é o principal ponto de checagem contra o clichê. Se a justificativa funciona trocando o prop por qualquer outro, a conexão ainda é arbitrária.
Repetir a pergunta de checagem circulando: "essa ideia só funciona por causa do prop, ou você chegaria nela de qualquer jeito?" e "o que dessa ideia ainda é fiel ao material/forma/função real do prop, e o que já é invenção livre?"
Registro escrito das três dinâmicas = base do C1 (Processo de Projeto) desta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5–10 min finais dentro do bloco de 60. Registro em post-it físico ou digital — é o insumo que o estudante carrega para a Semana 2. Não é avaliado.
Fechamento (10 min): síntese da semana + checagem rápida dos Objetivos 1, 2 e 6 ("as três etapas do pipeline?", "raster × procedural?", "onde fica o UV Editor?") + ponte para a Semana 2: trazer o Blender 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2026-10-10T20:45:57Z</dcterms:created>
  <dcterms:modified xsi:type="dcterms:W3CDTF">2026-10-10T20:45:57Z</dcterms:modified>
</cp:coreProperties>
</file>